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8" r:id="rId9"/>
    <p:sldId id="267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5039A6-F36D-40EC-9C40-978F7891C0D3}" v="2" dt="2026-07-23T09:22:50.497"/>
    <p1510:client id="{99BAD0F8-86B1-4B0E-B507-B635FB6532E1}" v="1" dt="2026-07-24T04:49:31.7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896" autoAdjust="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1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ter Institutional Inclusive  Innovations Center" userId="8f0f2a58-4f3c-47a5-9304-113b24e1e584" providerId="ADAL" clId="{7C429524-839A-4DDC-9EAA-B9B6CA7C8F65}"/>
    <pc:docChg chg="undo custSel modSld addMainMaster delMainMaster modMainMaster">
      <pc:chgData name="Inter Institutional Inclusive  Innovations Center" userId="8f0f2a58-4f3c-47a5-9304-113b24e1e584" providerId="ADAL" clId="{7C429524-839A-4DDC-9EAA-B9B6CA7C8F65}" dt="2026-07-24T04:52:03.139" v="215" actId="20577"/>
      <pc:docMkLst>
        <pc:docMk/>
      </pc:docMkLst>
      <pc:sldChg chg="addSp delSp modSp mod">
        <pc:chgData name="Inter Institutional Inclusive  Innovations Center" userId="8f0f2a58-4f3c-47a5-9304-113b24e1e584" providerId="ADAL" clId="{7C429524-839A-4DDC-9EAA-B9B6CA7C8F65}" dt="2026-07-24T04:52:03.139" v="215" actId="20577"/>
        <pc:sldMkLst>
          <pc:docMk/>
          <pc:sldMk cId="0" sldId="256"/>
        </pc:sldMkLst>
        <pc:spChg chg="mod">
          <ac:chgData name="Inter Institutional Inclusive  Innovations Center" userId="8f0f2a58-4f3c-47a5-9304-113b24e1e584" providerId="ADAL" clId="{7C429524-839A-4DDC-9EAA-B9B6CA7C8F65}" dt="2026-07-24T04:52:03.139" v="215" actId="20577"/>
          <ac:spMkLst>
            <pc:docMk/>
            <pc:sldMk cId="0" sldId="256"/>
            <ac:spMk id="12" creationId="{00000000-0000-0000-0000-000000000000}"/>
          </ac:spMkLst>
        </pc:spChg>
        <pc:picChg chg="del">
          <ac:chgData name="Inter Institutional Inclusive  Innovations Center" userId="8f0f2a58-4f3c-47a5-9304-113b24e1e584" providerId="ADAL" clId="{7C429524-839A-4DDC-9EAA-B9B6CA7C8F65}" dt="2026-07-23T09:21:19.958" v="117" actId="478"/>
          <ac:picMkLst>
            <pc:docMk/>
            <pc:sldMk cId="0" sldId="256"/>
            <ac:picMk id="5" creationId="{00000000-0000-0000-0000-000000000000}"/>
          </ac:picMkLst>
        </pc:picChg>
        <pc:picChg chg="add mod">
          <ac:chgData name="Inter Institutional Inclusive  Innovations Center" userId="8f0f2a58-4f3c-47a5-9304-113b24e1e584" providerId="ADAL" clId="{7C429524-839A-4DDC-9EAA-B9B6CA7C8F65}" dt="2026-07-24T04:49:50.859" v="169" actId="1076"/>
          <ac:picMkLst>
            <pc:docMk/>
            <pc:sldMk cId="0" sldId="256"/>
            <ac:picMk id="5" creationId="{8BB4234F-3583-BFF9-C279-17614D0CF451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4T04:49:34.965" v="164" actId="478"/>
          <ac:picMkLst>
            <pc:docMk/>
            <pc:sldMk cId="0" sldId="256"/>
            <ac:picMk id="6" creationId="{00000000-0000-0000-0000-000000000000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48:56.841" v="162" actId="478"/>
          <ac:picMkLst>
            <pc:docMk/>
            <pc:sldMk cId="0" sldId="256"/>
            <ac:picMk id="21" creationId="{39800F03-85D7-C539-AC1F-E617F255427D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3T09:21:18.033" v="116" actId="478"/>
          <ac:picMkLst>
            <pc:docMk/>
            <pc:sldMk cId="0" sldId="256"/>
            <ac:picMk id="24" creationId="{49E19F6C-7A17-044F-4D35-5AE5900A8840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03.416" v="173" actId="1076"/>
        <pc:sldMkLst>
          <pc:docMk/>
          <pc:sldMk cId="0" sldId="257"/>
        </pc:sldMkLst>
        <pc:spChg chg="del">
          <ac:chgData name="Inter Institutional Inclusive  Innovations Center" userId="8f0f2a58-4f3c-47a5-9304-113b24e1e584" providerId="ADAL" clId="{7C429524-839A-4DDC-9EAA-B9B6CA7C8F65}" dt="2026-07-23T09:23:50.752" v="142" actId="478"/>
          <ac:spMkLst>
            <pc:docMk/>
            <pc:sldMk cId="0" sldId="257"/>
            <ac:spMk id="4" creationId="{00000000-0000-0000-0000-000000000000}"/>
          </ac:spMkLst>
        </pc:spChg>
        <pc:spChg chg="add mod">
          <ac:chgData name="Inter Institutional Inclusive  Innovations Center" userId="8f0f2a58-4f3c-47a5-9304-113b24e1e584" providerId="ADAL" clId="{7C429524-839A-4DDC-9EAA-B9B6CA7C8F65}" dt="2026-07-23T09:23:55" v="144" actId="1076"/>
          <ac:spMkLst>
            <pc:docMk/>
            <pc:sldMk cId="0" sldId="257"/>
            <ac:spMk id="70" creationId="{780937B3-EB04-4CBA-C636-AF115BC1E358}"/>
          </ac:spMkLst>
        </pc:spChg>
        <pc:picChg chg="del">
          <ac:chgData name="Inter Institutional Inclusive  Innovations Center" userId="8f0f2a58-4f3c-47a5-9304-113b24e1e584" providerId="ADAL" clId="{7C429524-839A-4DDC-9EAA-B9B6CA7C8F65}" dt="2026-07-23T09:21:34.301" v="122" actId="478"/>
          <ac:picMkLst>
            <pc:docMk/>
            <pc:sldMk cId="0" sldId="257"/>
            <ac:picMk id="5" creationId="{00000000-0000-0000-0000-000000000000}"/>
          </ac:picMkLst>
        </pc:picChg>
        <pc:picChg chg="add mod">
          <ac:chgData name="Inter Institutional Inclusive  Innovations Center" userId="8f0f2a58-4f3c-47a5-9304-113b24e1e584" providerId="ADAL" clId="{7C429524-839A-4DDC-9EAA-B9B6CA7C8F65}" dt="2026-07-24T04:50:03.416" v="173" actId="1076"/>
          <ac:picMkLst>
            <pc:docMk/>
            <pc:sldMk cId="0" sldId="257"/>
            <ac:picMk id="5" creationId="{5F67FE6B-8CE4-2744-DE3C-E456350E62E4}"/>
          </ac:picMkLst>
        </pc:picChg>
        <pc:picChg chg="add del">
          <ac:chgData name="Inter Institutional Inclusive  Innovations Center" userId="8f0f2a58-4f3c-47a5-9304-113b24e1e584" providerId="ADAL" clId="{7C429524-839A-4DDC-9EAA-B9B6CA7C8F65}" dt="2026-07-23T09:23:50.752" v="142" actId="478"/>
          <ac:picMkLst>
            <pc:docMk/>
            <pc:sldMk cId="0" sldId="257"/>
            <ac:picMk id="6" creationId="{00000000-0000-0000-0000-000000000000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3T09:21:36.011" v="123" actId="478"/>
          <ac:picMkLst>
            <pc:docMk/>
            <pc:sldMk cId="0" sldId="257"/>
            <ac:picMk id="67" creationId="{C1D8EFAA-60C4-F885-3CF5-29E5275B8458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3T09:23:50.752" v="142" actId="478"/>
          <ac:picMkLst>
            <pc:docMk/>
            <pc:sldMk cId="0" sldId="257"/>
            <ac:picMk id="68" creationId="{923CF78D-2057-EB74-919F-879D8B37DC53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49:59.267" v="171" actId="478"/>
          <ac:picMkLst>
            <pc:docMk/>
            <pc:sldMk cId="0" sldId="257"/>
            <ac:picMk id="72" creationId="{E669829C-7B29-A7D1-ED99-C5F19C5072C6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49:57.485" v="170" actId="478"/>
          <ac:picMkLst>
            <pc:docMk/>
            <pc:sldMk cId="0" sldId="257"/>
            <ac:picMk id="74" creationId="{BEAA2AA5-66C7-EAD6-3C1C-DA0576C000F0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10.912" v="177" actId="1076"/>
        <pc:sldMkLst>
          <pc:docMk/>
          <pc:sldMk cId="0" sldId="258"/>
        </pc:sldMkLst>
        <pc:spChg chg="del">
          <ac:chgData name="Inter Institutional Inclusive  Innovations Center" userId="8f0f2a58-4f3c-47a5-9304-113b24e1e584" providerId="ADAL" clId="{7C429524-839A-4DDC-9EAA-B9B6CA7C8F65}" dt="2026-07-23T09:24:02.229" v="145" actId="478"/>
          <ac:spMkLst>
            <pc:docMk/>
            <pc:sldMk cId="0" sldId="258"/>
            <ac:spMk id="4" creationId="{00000000-0000-0000-0000-000000000000}"/>
          </ac:spMkLst>
        </pc:spChg>
        <pc:spChg chg="add mod">
          <ac:chgData name="Inter Institutional Inclusive  Innovations Center" userId="8f0f2a58-4f3c-47a5-9304-113b24e1e584" providerId="ADAL" clId="{7C429524-839A-4DDC-9EAA-B9B6CA7C8F65}" dt="2026-07-23T09:24:05.052" v="147" actId="1076"/>
          <ac:spMkLst>
            <pc:docMk/>
            <pc:sldMk cId="0" sldId="258"/>
            <ac:spMk id="22" creationId="{8B3789FB-4EC6-29BB-8AB4-B514BCE88A9C}"/>
          </ac:spMkLst>
        </pc:spChg>
        <pc:picChg chg="del">
          <ac:chgData name="Inter Institutional Inclusive  Innovations Center" userId="8f0f2a58-4f3c-47a5-9304-113b24e1e584" providerId="ADAL" clId="{7C429524-839A-4DDC-9EAA-B9B6CA7C8F65}" dt="2026-07-23T09:24:02.229" v="145" actId="478"/>
          <ac:picMkLst>
            <pc:docMk/>
            <pc:sldMk cId="0" sldId="258"/>
            <ac:picMk id="5" creationId="{00000000-0000-0000-0000-000000000000}"/>
          </ac:picMkLst>
        </pc:picChg>
        <pc:picChg chg="add mod">
          <ac:chgData name="Inter Institutional Inclusive  Innovations Center" userId="8f0f2a58-4f3c-47a5-9304-113b24e1e584" providerId="ADAL" clId="{7C429524-839A-4DDC-9EAA-B9B6CA7C8F65}" dt="2026-07-24T04:50:10.912" v="177" actId="1076"/>
          <ac:picMkLst>
            <pc:docMk/>
            <pc:sldMk cId="0" sldId="258"/>
            <ac:picMk id="5" creationId="{AFA5626A-1768-0BB6-2B3B-C29607998D96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3T09:24:02.229" v="145" actId="478"/>
          <ac:picMkLst>
            <pc:docMk/>
            <pc:sldMk cId="0" sldId="258"/>
            <ac:picMk id="6" creationId="{00000000-0000-0000-0000-000000000000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08.485" v="175" actId="478"/>
          <ac:picMkLst>
            <pc:docMk/>
            <pc:sldMk cId="0" sldId="258"/>
            <ac:picMk id="24" creationId="{AE24B99B-8E01-F8B4-8ED1-D996CB7F0C99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06.767" v="174" actId="478"/>
          <ac:picMkLst>
            <pc:docMk/>
            <pc:sldMk cId="0" sldId="258"/>
            <ac:picMk id="26" creationId="{D2A8A9BE-1E15-DD99-FB54-E04C51A447DD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18.005" v="181" actId="1076"/>
        <pc:sldMkLst>
          <pc:docMk/>
          <pc:sldMk cId="0" sldId="259"/>
        </pc:sldMkLst>
        <pc:spChg chg="add mod">
          <ac:chgData name="Inter Institutional Inclusive  Innovations Center" userId="8f0f2a58-4f3c-47a5-9304-113b24e1e584" providerId="ADAL" clId="{7C429524-839A-4DDC-9EAA-B9B6CA7C8F65}" dt="2026-07-23T09:24:11.057" v="149" actId="1076"/>
          <ac:spMkLst>
            <pc:docMk/>
            <pc:sldMk cId="0" sldId="259"/>
            <ac:spMk id="25" creationId="{82B7216B-04F1-E2CC-935F-9AA2CE5B9E43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18.005" v="181" actId="1076"/>
          <ac:picMkLst>
            <pc:docMk/>
            <pc:sldMk cId="0" sldId="259"/>
            <ac:picMk id="26" creationId="{7743FE56-9400-E309-F93C-96E3C8B4AF82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15.027" v="179" actId="478"/>
          <ac:picMkLst>
            <pc:docMk/>
            <pc:sldMk cId="0" sldId="259"/>
            <ac:picMk id="27" creationId="{B357A1E6-99F0-E990-223D-B058F179008C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13.204" v="178" actId="478"/>
          <ac:picMkLst>
            <pc:docMk/>
            <pc:sldMk cId="0" sldId="259"/>
            <ac:picMk id="29" creationId="{9072229F-1CE5-750A-DBFD-9C4A88BAFE15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28.242" v="186" actId="1076"/>
        <pc:sldMkLst>
          <pc:docMk/>
          <pc:sldMk cId="0" sldId="260"/>
        </pc:sldMkLst>
        <pc:spChg chg="add mod">
          <ac:chgData name="Inter Institutional Inclusive  Innovations Center" userId="8f0f2a58-4f3c-47a5-9304-113b24e1e584" providerId="ADAL" clId="{7C429524-839A-4DDC-9EAA-B9B6CA7C8F65}" dt="2026-07-23T09:24:18.395" v="151" actId="1076"/>
          <ac:spMkLst>
            <pc:docMk/>
            <pc:sldMk cId="0" sldId="260"/>
            <ac:spMk id="22" creationId="{50164B49-38DE-6195-0A8B-DC6EC6DA2457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28.242" v="186" actId="1076"/>
          <ac:picMkLst>
            <pc:docMk/>
            <pc:sldMk cId="0" sldId="260"/>
            <ac:picMk id="23" creationId="{18A68BD0-3127-AC0B-80B4-CA2643B37A26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23.735" v="183" actId="478"/>
          <ac:picMkLst>
            <pc:docMk/>
            <pc:sldMk cId="0" sldId="260"/>
            <ac:picMk id="24" creationId="{3A18E54B-D9A5-D8F4-1F47-CC79C92D1FCB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21.102" v="182" actId="478"/>
          <ac:picMkLst>
            <pc:docMk/>
            <pc:sldMk cId="0" sldId="260"/>
            <ac:picMk id="26" creationId="{EFBAF213-417A-8EA4-B3CD-8E1992EDDC89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35.583" v="190" actId="1076"/>
        <pc:sldMkLst>
          <pc:docMk/>
          <pc:sldMk cId="0" sldId="261"/>
        </pc:sldMkLst>
        <pc:spChg chg="add mod">
          <ac:chgData name="Inter Institutional Inclusive  Innovations Center" userId="8f0f2a58-4f3c-47a5-9304-113b24e1e584" providerId="ADAL" clId="{7C429524-839A-4DDC-9EAA-B9B6CA7C8F65}" dt="2026-07-23T09:24:23.028" v="153" actId="1076"/>
          <ac:spMkLst>
            <pc:docMk/>
            <pc:sldMk cId="0" sldId="261"/>
            <ac:spMk id="25" creationId="{BB3A3471-21A6-8A80-8399-32E98C63F186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35.583" v="190" actId="1076"/>
          <ac:picMkLst>
            <pc:docMk/>
            <pc:sldMk cId="0" sldId="261"/>
            <ac:picMk id="26" creationId="{1ADA517E-8996-A444-E540-A2F9B8F98D2B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2.232" v="188" actId="478"/>
          <ac:picMkLst>
            <pc:docMk/>
            <pc:sldMk cId="0" sldId="261"/>
            <ac:picMk id="27" creationId="{D9C2C2E0-4D39-89DE-E3C8-3CF1DCD37520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0.421" v="187" actId="478"/>
          <ac:picMkLst>
            <pc:docMk/>
            <pc:sldMk cId="0" sldId="261"/>
            <ac:picMk id="29" creationId="{3BBCC248-868C-340C-0FAD-CA376B1FC8FE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42.239" v="194" actId="1076"/>
        <pc:sldMkLst>
          <pc:docMk/>
          <pc:sldMk cId="0" sldId="262"/>
        </pc:sldMkLst>
        <pc:spChg chg="add mod">
          <ac:chgData name="Inter Institutional Inclusive  Innovations Center" userId="8f0f2a58-4f3c-47a5-9304-113b24e1e584" providerId="ADAL" clId="{7C429524-839A-4DDC-9EAA-B9B6CA7C8F65}" dt="2026-07-23T09:24:26.189" v="155" actId="1076"/>
          <ac:spMkLst>
            <pc:docMk/>
            <pc:sldMk cId="0" sldId="262"/>
            <ac:spMk id="27" creationId="{850BA2BE-D607-619F-6960-A71277019D3B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42.239" v="194" actId="1076"/>
          <ac:picMkLst>
            <pc:docMk/>
            <pc:sldMk cId="0" sldId="262"/>
            <ac:picMk id="28" creationId="{C5D3E59C-FE74-F0BE-9B10-98C8003398BC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9.769" v="192" actId="478"/>
          <ac:picMkLst>
            <pc:docMk/>
            <pc:sldMk cId="0" sldId="262"/>
            <ac:picMk id="29" creationId="{D1CD71D8-80DC-E089-7F84-F870CA829998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7.857" v="191" actId="478"/>
          <ac:picMkLst>
            <pc:docMk/>
            <pc:sldMk cId="0" sldId="262"/>
            <ac:picMk id="31" creationId="{32772FAA-6737-736E-57F5-863D0C30C830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1:13.043" v="199" actId="1076"/>
        <pc:sldMkLst>
          <pc:docMk/>
          <pc:sldMk cId="0" sldId="263"/>
        </pc:sldMkLst>
        <pc:spChg chg="add mod">
          <ac:chgData name="Inter Institutional Inclusive  Innovations Center" userId="8f0f2a58-4f3c-47a5-9304-113b24e1e584" providerId="ADAL" clId="{7C429524-839A-4DDC-9EAA-B9B6CA7C8F65}" dt="2026-07-23T09:24:31.594" v="157" actId="1076"/>
          <ac:spMkLst>
            <pc:docMk/>
            <pc:sldMk cId="0" sldId="263"/>
            <ac:spMk id="31" creationId="{10B6379C-1BCE-6784-4600-934501FC5F97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1:13.043" v="199" actId="1076"/>
          <ac:picMkLst>
            <pc:docMk/>
            <pc:sldMk cId="0" sldId="263"/>
            <ac:picMk id="32" creationId="{0D18A824-BCDE-0A33-4245-E3C168F9E6DD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46.281" v="196" actId="478"/>
          <ac:picMkLst>
            <pc:docMk/>
            <pc:sldMk cId="0" sldId="263"/>
            <ac:picMk id="33" creationId="{ADD1E958-165B-D6F5-A64F-04FCD64E2147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44.546" v="195" actId="478"/>
          <ac:picMkLst>
            <pc:docMk/>
            <pc:sldMk cId="0" sldId="263"/>
            <ac:picMk id="35" creationId="{6BADDDF0-0612-EB5D-5A8F-EFB7179CFC49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1:28.815" v="207" actId="1076"/>
        <pc:sldMkLst>
          <pc:docMk/>
          <pc:sldMk cId="0" sldId="267"/>
        </pc:sldMkLst>
        <pc:spChg chg="add mod">
          <ac:chgData name="Inter Institutional Inclusive  Innovations Center" userId="8f0f2a58-4f3c-47a5-9304-113b24e1e584" providerId="ADAL" clId="{7C429524-839A-4DDC-9EAA-B9B6CA7C8F65}" dt="2026-07-23T09:24:40.860" v="161" actId="1076"/>
          <ac:spMkLst>
            <pc:docMk/>
            <pc:sldMk cId="0" sldId="267"/>
            <ac:spMk id="32" creationId="{3E27E131-AC1D-E75C-0267-02565ACC1BC3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1:28.815" v="207" actId="1076"/>
          <ac:picMkLst>
            <pc:docMk/>
            <pc:sldMk cId="0" sldId="267"/>
            <ac:picMk id="33" creationId="{1D876DBE-D402-1B41-B952-69F6F5BF98C9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26.339" v="205" actId="478"/>
          <ac:picMkLst>
            <pc:docMk/>
            <pc:sldMk cId="0" sldId="267"/>
            <ac:picMk id="34" creationId="{3207B916-D916-65B2-E15B-7B8E518A4CF1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24.437" v="204" actId="478"/>
          <ac:picMkLst>
            <pc:docMk/>
            <pc:sldMk cId="0" sldId="267"/>
            <ac:picMk id="36" creationId="{73F6D37F-F5F4-6581-D4C3-0D6D2153AEF3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1:22.013" v="203" actId="1076"/>
        <pc:sldMkLst>
          <pc:docMk/>
          <pc:sldMk cId="0" sldId="268"/>
        </pc:sldMkLst>
        <pc:spChg chg="add mod">
          <ac:chgData name="Inter Institutional Inclusive  Innovations Center" userId="8f0f2a58-4f3c-47a5-9304-113b24e1e584" providerId="ADAL" clId="{7C429524-839A-4DDC-9EAA-B9B6CA7C8F65}" dt="2026-07-23T09:24:36.582" v="159" actId="1076"/>
          <ac:spMkLst>
            <pc:docMk/>
            <pc:sldMk cId="0" sldId="268"/>
            <ac:spMk id="30" creationId="{89A93441-4E5C-0FCA-6BDD-16AB2E1B711C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1:22.013" v="203" actId="1076"/>
          <ac:picMkLst>
            <pc:docMk/>
            <pc:sldMk cId="0" sldId="268"/>
            <ac:picMk id="31" creationId="{73E0C32B-9271-FA34-86BB-7D95EB5AB342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19.304" v="201" actId="478"/>
          <ac:picMkLst>
            <pc:docMk/>
            <pc:sldMk cId="0" sldId="268"/>
            <ac:picMk id="32" creationId="{10A4E146-7FDB-FFE9-9526-3614562D8544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17.385" v="200" actId="478"/>
          <ac:picMkLst>
            <pc:docMk/>
            <pc:sldMk cId="0" sldId="268"/>
            <ac:picMk id="34" creationId="{616214A5-37D4-FB21-7202-26AFB342A299}"/>
          </ac:picMkLst>
        </pc:picChg>
      </pc:sldChg>
      <pc:sldMasterChg chg="modSldLayout">
        <pc:chgData name="Inter Institutional Inclusive  Innovations Center" userId="8f0f2a58-4f3c-47a5-9304-113b24e1e584" providerId="ADAL" clId="{7C429524-839A-4DDC-9EAA-B9B6CA7C8F65}" dt="2026-07-23T09:22:53.132" v="135" actId="1076"/>
        <pc:sldMasterMkLst>
          <pc:docMk/>
          <pc:sldMasterMk cId="0" sldId="2147483648"/>
        </pc:sldMasterMkLst>
        <pc:sldLayoutChg chg="addSp delSp modSp mod">
          <pc:chgData name="Inter Institutional Inclusive  Innovations Center" userId="8f0f2a58-4f3c-47a5-9304-113b24e1e584" providerId="ADAL" clId="{7C429524-839A-4DDC-9EAA-B9B6CA7C8F65}" dt="2026-07-23T09:22:53.132" v="135" actId="1076"/>
          <pc:sldLayoutMkLst>
            <pc:docMk/>
            <pc:sldMasterMk cId="0" sldId="2147483648"/>
            <pc:sldLayoutMk cId="0" sldId="2147483649"/>
          </pc:sldLayoutMkLst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3" creationId="{670500D5-0C61-D368-3EA8-B0D70E762677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7" creationId="{8554604A-67D5-8651-A136-D9C527FB2A3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9" creationId="{29E90E54-6D65-ECF5-20F4-778E23505930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1" creationId="{070086D7-78C3-0DC3-34DD-D68141DA9548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3" creationId="{A2E77B92-8008-BEFB-D609-FA2E3D4355C6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5" creationId="{BDA6C487-A013-0BDD-3256-B049C59B305E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7" creationId="{86CA69B4-C6E5-E2E4-A86B-E8053E9874F3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23" creationId="{4C7FD9C6-DB86-B335-81D3-D5591274E047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25" creationId="{9C2348A3-50E7-9624-EAF4-9ACFD3ABE58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27" creationId="{F81BDED9-60D5-649E-4AB6-5A7B541D9AA0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31" creationId="{2BD26DD0-A441-CDA1-C7C4-500C0B482AE4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47" creationId="{A5833BA1-7E68-EA56-E2F4-8F8311ABF752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49" creationId="{B9BD3167-D5BD-8B40-4555-84C7BD065A5E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57" creationId="{5061D844-37EB-548D-B973-C8018E42C215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65" creationId="{FDE11816-BE8D-2EA8-403C-EDD897CC8886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77" creationId="{3779CD17-0018-CC60-6D0F-0933639C8E8F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79" creationId="{C8A72EB2-0C41-D852-59DA-E4EA48C4DC76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83" creationId="{6C9218A1-D90A-BA12-EF63-1B92669F6E38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85" creationId="{449C0B3C-3475-D922-9A12-C029E001B10F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93" creationId="{08A80940-BD2D-E549-ED9D-34BC817068A3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95" creationId="{FECC3D97-6F4A-BC31-16FB-164D35CAFD27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99" creationId="{C6F62233-28CA-F7F7-27B0-76ED806DEE15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13" creationId="{3329D229-D178-066B-8117-18D8EC7F3373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127" creationId="{F0D528F7-9BB6-65AC-0918-282E384814E2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41" creationId="{EB893E23-FB1A-0D77-F65C-392B3A91CBBC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43" creationId="{A26E93F0-C6F6-73C1-E4FF-8B898B8250A6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53" creationId="{07D1DC4B-8695-07D8-8056-6A8BA7F332F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187" creationId="{FCA5CCE8-8E73-82EE-CB6B-ADB25409BFB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191" creationId="{500422FC-A5C6-6331-8965-69B3A3D859E7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193" creationId="{85DE142B-F8AA-47A6-E761-6329FF37BFB6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03" creationId="{5871EDFA-DBCB-D39E-C0AB-2C0B81A53820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13" creationId="{CBE53BBA-B6A7-D74B-87C7-2C5D8EEAA454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31" creationId="{E6A3F812-3BF4-9336-E57D-860E6A54F38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45" creationId="{68E228AD-385E-7895-2F11-2E8E1A4C209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53" creationId="{B226F5B6-1373-9263-48EC-924CF9FC8688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69" creationId="{8C9230A6-A4D4-2C36-7EB2-ADA9A45F2699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79" creationId="{4F0EF51C-A9EC-FDE9-5978-4FD26B7D03A8}"/>
            </ac:spMkLst>
          </pc:spChg>
          <pc:picChg chg="mod">
            <ac:chgData name="Inter Institutional Inclusive  Innovations Center" userId="8f0f2a58-4f3c-47a5-9304-113b24e1e584" providerId="ADAL" clId="{7C429524-839A-4DDC-9EAA-B9B6CA7C8F65}" dt="2026-07-23T09:22:39.795" v="132" actId="1076"/>
            <ac:picMkLst>
              <pc:docMk/>
              <pc:sldMasterMk cId="0" sldId="2147483648"/>
              <pc:sldLayoutMk cId="0" sldId="2147483649"/>
              <ac:picMk id="33" creationId="{9C02DD19-DD7E-1634-0056-B0B673F6409D}"/>
            </ac:picMkLst>
          </pc:picChg>
          <pc:picChg chg="add mod">
            <ac:chgData name="Inter Institutional Inclusive  Innovations Center" userId="8f0f2a58-4f3c-47a5-9304-113b24e1e584" providerId="ADAL" clId="{7C429524-839A-4DDC-9EAA-B9B6CA7C8F65}" dt="2026-07-23T09:22:53.132" v="135" actId="1076"/>
            <ac:picMkLst>
              <pc:docMk/>
              <pc:sldMasterMk cId="0" sldId="2147483648"/>
              <pc:sldLayoutMk cId="0" sldId="2147483649"/>
              <ac:picMk id="282" creationId="{BD66A30C-A2DE-61B6-8B7B-4CF622680E59}"/>
            </ac:picMkLst>
          </pc:picChg>
        </pc:sldLayoutChg>
      </pc:sldMasterChg>
      <pc:sldMasterChg chg="new del mod addSldLayout delSldLayout">
        <pc:chgData name="Inter Institutional Inclusive  Innovations Center" userId="8f0f2a58-4f3c-47a5-9304-113b24e1e584" providerId="ADAL" clId="{7C429524-839A-4DDC-9EAA-B9B6CA7C8F65}" dt="2026-07-23T09:23:04.733" v="137" actId="6938"/>
        <pc:sldMasterMkLst>
          <pc:docMk/>
          <pc:sldMasterMk cId="1023542986" sldId="2147483650"/>
        </pc:sldMasterMkLst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72539884" sldId="2147483651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481455685" sldId="2147483652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921258258" sldId="2147483653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884839122" sldId="2147483654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399709954" sldId="2147483655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808508738" sldId="2147483656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108363411" sldId="2147483657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535369900" sldId="2147483658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624862031" sldId="2147483659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822323631" sldId="2147483660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931480772" sldId="2147483661"/>
          </pc:sldLayoutMkLst>
        </pc:sldLayoutChg>
      </pc:sldMasterChg>
      <pc:sldMasterChg chg="new del mod addSldLayout delSldLayout">
        <pc:chgData name="Inter Institutional Inclusive  Innovations Center" userId="8f0f2a58-4f3c-47a5-9304-113b24e1e584" providerId="ADAL" clId="{7C429524-839A-4DDC-9EAA-B9B6CA7C8F65}" dt="2026-07-23T09:23:08.103" v="139" actId="6938"/>
        <pc:sldMasterMkLst>
          <pc:docMk/>
          <pc:sldMasterMk cId="1372952111" sldId="2147483650"/>
        </pc:sldMasterMkLst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105982335" sldId="2147483651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3800850885" sldId="2147483652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3877606852" sldId="2147483653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208342861" sldId="2147483654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396227509" sldId="2147483655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380754746" sldId="2147483656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2973874357" sldId="2147483657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3685638390" sldId="2147483658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2165239747" sldId="2147483659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582729751" sldId="2147483660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2622961263" sldId="214748366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829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>
            <a:extLst>
              <a:ext uri="{FF2B5EF4-FFF2-40B4-BE49-F238E27FC236}">
                <a16:creationId xmlns:a16="http://schemas.microsoft.com/office/drawing/2014/main" id="{2BD26DD0-A441-CDA1-C7C4-500C0B482AE4}"/>
              </a:ext>
            </a:extLst>
          </p:cNvPr>
          <p:cNvSpPr/>
          <p:nvPr userDrawn="1"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id="{9C02DD19-DD7E-1634-0056-B0B673F640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5" name="Shape 1">
            <a:extLst>
              <a:ext uri="{FF2B5EF4-FFF2-40B4-BE49-F238E27FC236}">
                <a16:creationId xmlns:a16="http://schemas.microsoft.com/office/drawing/2014/main" id="{2896CD82-D6A3-3A0B-5BEE-489BF15E90F1}"/>
              </a:ext>
            </a:extLst>
          </p:cNvPr>
          <p:cNvSpPr/>
          <p:nvPr userDrawn="1"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7" name="Image 2" descr="preencoded.png">
            <a:extLst>
              <a:ext uri="{FF2B5EF4-FFF2-40B4-BE49-F238E27FC236}">
                <a16:creationId xmlns:a16="http://schemas.microsoft.com/office/drawing/2014/main" id="{FE4B1F73-561B-DEF0-4566-CD62949472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pic>
        <p:nvPicPr>
          <p:cNvPr id="282" name="Picture 281">
            <a:extLst>
              <a:ext uri="{FF2B5EF4-FFF2-40B4-BE49-F238E27FC236}">
                <a16:creationId xmlns:a16="http://schemas.microsoft.com/office/drawing/2014/main" id="{BD66A30C-A2DE-61B6-8B7B-4CF622680E5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58356" y="381305"/>
            <a:ext cx="5745480" cy="46736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7.png"/><Relationship Id="rId5" Type="http://schemas.openxmlformats.org/officeDocument/2006/relationships/image" Target="../media/image2.png"/><Relationship Id="rId10" Type="http://schemas.openxmlformats.org/officeDocument/2006/relationships/image" Target="../media/image9.png"/><Relationship Id="rId4" Type="http://schemas.openxmlformats.org/officeDocument/2006/relationships/image" Target="../media/image10.jpe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jpe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7.png"/><Relationship Id="rId5" Type="http://schemas.openxmlformats.org/officeDocument/2006/relationships/image" Target="../media/image2.png"/><Relationship Id="rId10" Type="http://schemas.openxmlformats.org/officeDocument/2006/relationships/image" Target="../media/image9.png"/><Relationship Id="rId4" Type="http://schemas.openxmlformats.org/officeDocument/2006/relationships/image" Target="../media/image10.jpe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jpe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.png"/><Relationship Id="rId4" Type="http://schemas.openxmlformats.org/officeDocument/2006/relationships/image" Target="../media/image10.jpe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 l="12327" r="12327"/>
          <a:stretch/>
        </p:blipFill>
        <p:spPr>
          <a:xfrm>
            <a:off x="-9146" y="0"/>
            <a:ext cx="12191695" cy="6858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143000"/>
            <a:ext cx="47549" cy="276149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3"/>
          <p:cNvSpPr/>
          <p:nvPr/>
        </p:nvSpPr>
        <p:spPr>
          <a:xfrm>
            <a:off x="9182405" y="1170432"/>
            <a:ext cx="2438705" cy="362102"/>
          </a:xfrm>
          <a:prstGeom prst="roundRect">
            <a:avLst>
              <a:gd name="adj" fmla="val 2658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4"/>
          <p:cNvSpPr/>
          <p:nvPr/>
        </p:nvSpPr>
        <p:spPr>
          <a:xfrm>
            <a:off x="571501" y="1712671"/>
            <a:ext cx="10956672" cy="1368859"/>
          </a:xfrm>
          <a:prstGeom prst="roundRect">
            <a:avLst>
              <a:gd name="adj" fmla="val 2216"/>
            </a:avLst>
          </a:prstGeom>
          <a:solidFill>
            <a:srgbClr val="273383">
              <a:alpha val="3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  <a:effectLst>
            <a:outerShdw blurRad="190500" dist="1016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80644" y="1721815"/>
            <a:ext cx="110459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684325" y="1721815"/>
            <a:ext cx="221010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3889858" y="1721815"/>
            <a:ext cx="441929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8201711" y="1718614"/>
            <a:ext cx="3314700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580644" y="2604211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1684325" y="2604211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3889858" y="2604211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8301838" y="2604211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562356" y="2648103"/>
            <a:ext cx="11030407" cy="4572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580644" y="3055010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1684325" y="3055010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3889858" y="3055010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8301838" y="3055010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580644" y="3510382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1684325" y="3510382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3889858" y="3510382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8301838" y="3510382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3"/>
          <p:cNvSpPr txBox="1"/>
          <p:nvPr/>
        </p:nvSpPr>
        <p:spPr>
          <a:xfrm>
            <a:off x="780898" y="4120286"/>
            <a:ext cx="55741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b="1" dirty="0"/>
          </a:p>
        </p:txBody>
      </p:sp>
      <p:sp>
        <p:nvSpPr>
          <p:cNvPr id="30" name="Shape 24"/>
          <p:cNvSpPr/>
          <p:nvPr/>
        </p:nvSpPr>
        <p:spPr>
          <a:xfrm>
            <a:off x="553211" y="3895344"/>
            <a:ext cx="11048695" cy="2029054"/>
          </a:xfrm>
          <a:prstGeom prst="roundRect">
            <a:avLst>
              <a:gd name="adj" fmla="val 253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5"/>
          <p:cNvSpPr/>
          <p:nvPr/>
        </p:nvSpPr>
        <p:spPr>
          <a:xfrm>
            <a:off x="725286" y="4401007"/>
            <a:ext cx="10649102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6"/>
          <p:cNvSpPr/>
          <p:nvPr/>
        </p:nvSpPr>
        <p:spPr>
          <a:xfrm>
            <a:off x="725286" y="5329123"/>
            <a:ext cx="5229454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7"/>
          <p:cNvSpPr/>
          <p:nvPr/>
        </p:nvSpPr>
        <p:spPr>
          <a:xfrm>
            <a:off x="6077558" y="5336210"/>
            <a:ext cx="5229454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8"/>
          <p:cNvSpPr txBox="1"/>
          <p:nvPr/>
        </p:nvSpPr>
        <p:spPr>
          <a:xfrm>
            <a:off x="761695" y="1086307"/>
            <a:ext cx="205374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Details</a:t>
            </a:r>
            <a:endParaRPr lang="en-US" sz="2100" dirty="0"/>
          </a:p>
        </p:txBody>
      </p:sp>
      <p:sp>
        <p:nvSpPr>
          <p:cNvPr id="35" name="Text 29"/>
          <p:cNvSpPr txBox="1"/>
          <p:nvPr/>
        </p:nvSpPr>
        <p:spPr>
          <a:xfrm>
            <a:off x="8076895" y="1237183"/>
            <a:ext cx="11055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Name: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771754" y="1836115"/>
            <a:ext cx="59893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SR. NO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1874520" y="1836115"/>
            <a:ext cx="465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4080053" y="1836115"/>
            <a:ext cx="53218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8492033" y="1836115"/>
            <a:ext cx="13130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ACADEMIC YEAR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771754" y="2270455"/>
            <a:ext cx="1563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00" dirty="0"/>
          </a:p>
        </p:txBody>
      </p:sp>
      <p:sp>
        <p:nvSpPr>
          <p:cNvPr id="41" name="Text 35"/>
          <p:cNvSpPr txBox="1"/>
          <p:nvPr/>
        </p:nvSpPr>
        <p:spPr>
          <a:xfrm>
            <a:off x="1874520" y="2270455"/>
            <a:ext cx="10707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0E0E0"/>
                </a:solidFill>
                <a:latin typeface="Poppins" pitchFamily="34" charset="0"/>
                <a:cs typeface="Poppins" pitchFamily="34" charset="-120"/>
              </a:rPr>
              <a:t>Member 1</a:t>
            </a:r>
            <a:endParaRPr lang="en-US" sz="1600" dirty="0"/>
          </a:p>
        </p:txBody>
      </p:sp>
      <p:sp>
        <p:nvSpPr>
          <p:cNvPr id="42" name="Text 36"/>
          <p:cNvSpPr txBox="1"/>
          <p:nvPr/>
        </p:nvSpPr>
        <p:spPr>
          <a:xfrm>
            <a:off x="771754" y="2725826"/>
            <a:ext cx="1947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Text 37"/>
          <p:cNvSpPr txBox="1"/>
          <p:nvPr/>
        </p:nvSpPr>
        <p:spPr>
          <a:xfrm>
            <a:off x="1874520" y="2725826"/>
            <a:ext cx="1373736" cy="243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2</a:t>
            </a:r>
            <a:endParaRPr lang="en-US" sz="1600" b="1" dirty="0"/>
          </a:p>
        </p:txBody>
      </p:sp>
      <p:sp>
        <p:nvSpPr>
          <p:cNvPr id="47" name="Text 41"/>
          <p:cNvSpPr txBox="1"/>
          <p:nvPr/>
        </p:nvSpPr>
        <p:spPr>
          <a:xfrm>
            <a:off x="1874520" y="3636569"/>
            <a:ext cx="8421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endParaRPr lang="en-US" sz="1100" dirty="0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4"/>
          <a:srcRect l="-2994" r="-2994"/>
          <a:stretch/>
        </p:blipFill>
        <p:spPr>
          <a:xfrm>
            <a:off x="753770" y="4064306"/>
            <a:ext cx="161849" cy="152705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996696" y="4076752"/>
            <a:ext cx="13432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COLLEGE NAME</a:t>
            </a:r>
            <a:endParaRPr lang="en-US" sz="1200" dirty="0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5"/>
          <a:srcRect l="-2994" r="-2994"/>
          <a:stretch/>
        </p:blipFill>
        <p:spPr>
          <a:xfrm>
            <a:off x="707288" y="5023001"/>
            <a:ext cx="161849" cy="152705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953719" y="4995367"/>
            <a:ext cx="27724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 CONTACT NUMBER</a:t>
            </a:r>
            <a:endParaRPr lang="en-US" sz="1200" dirty="0"/>
          </a:p>
        </p:txBody>
      </p:sp>
      <p:pic>
        <p:nvPicPr>
          <p:cNvPr id="52" name="Image 6" descr="preencoded.png"/>
          <p:cNvPicPr>
            <a:picLocks noChangeAspect="1"/>
          </p:cNvPicPr>
          <p:nvPr/>
        </p:nvPicPr>
        <p:blipFill>
          <a:blip r:embed="rId6"/>
          <a:srcRect l="-2994" r="-2994"/>
          <a:stretch/>
        </p:blipFill>
        <p:spPr>
          <a:xfrm>
            <a:off x="6182258" y="4992624"/>
            <a:ext cx="161849" cy="152705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6406743" y="497662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 EMAIL ADDRESS</a:t>
            </a:r>
            <a:endParaRPr lang="en-US" sz="1200" dirty="0"/>
          </a:p>
        </p:txBody>
      </p:sp>
      <p:sp>
        <p:nvSpPr>
          <p:cNvPr id="54" name="Text 45"/>
          <p:cNvSpPr txBox="1"/>
          <p:nvPr/>
        </p:nvSpPr>
        <p:spPr>
          <a:xfrm>
            <a:off x="9344254" y="1256386"/>
            <a:ext cx="1719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1">
                    <a:alpha val="70000"/>
                  </a:schemeClr>
                </a:solidFill>
                <a:latin typeface="Poppins" pitchFamily="34" charset="0"/>
                <a:cs typeface="Poppins" pitchFamily="34" charset="-120"/>
              </a:rPr>
              <a:t>TECHNOX</a:t>
            </a:r>
            <a:endParaRPr lang="en-US" sz="1600" b="1" dirty="0">
              <a:solidFill>
                <a:schemeClr val="bg1">
                  <a:alpha val="70000"/>
                </a:schemeClr>
              </a:solidFill>
            </a:endParaRPr>
          </a:p>
        </p:txBody>
      </p:sp>
      <p:sp>
        <p:nvSpPr>
          <p:cNvPr id="55" name="Text 46"/>
          <p:cNvSpPr txBox="1"/>
          <p:nvPr/>
        </p:nvSpPr>
        <p:spPr>
          <a:xfrm>
            <a:off x="4080052" y="2270455"/>
            <a:ext cx="2197331" cy="161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Dharshan Raju R D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56" name="Text 47"/>
          <p:cNvSpPr txBox="1"/>
          <p:nvPr/>
        </p:nvSpPr>
        <p:spPr>
          <a:xfrm>
            <a:off x="8943746" y="2264152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chemeClr val="bg1"/>
                </a:solidFill>
                <a:latin typeface="Poppins" pitchFamily="34" charset="0"/>
                <a:cs typeface="Poppins" pitchFamily="34" charset="-120"/>
              </a:rPr>
              <a:t>3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57" name="Text 48"/>
          <p:cNvSpPr txBox="1"/>
          <p:nvPr/>
        </p:nvSpPr>
        <p:spPr>
          <a:xfrm>
            <a:off x="4080053" y="2725826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chemeClr val="bg1"/>
                </a:solidFill>
                <a:latin typeface="Poppins" pitchFamily="34" charset="0"/>
                <a:cs typeface="Poppins" pitchFamily="34" charset="-120"/>
              </a:rPr>
              <a:t>Hitesh K P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58" name="Text 49"/>
          <p:cNvSpPr txBox="1"/>
          <p:nvPr/>
        </p:nvSpPr>
        <p:spPr>
          <a:xfrm>
            <a:off x="8943745" y="2737255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chemeClr val="bg1"/>
                </a:solidFill>
                <a:latin typeface="Poppins" pitchFamily="34" charset="0"/>
                <a:cs typeface="Poppins" pitchFamily="34" charset="-120"/>
              </a:rPr>
              <a:t>3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63" name="Text 54"/>
          <p:cNvSpPr txBox="1"/>
          <p:nvPr/>
        </p:nvSpPr>
        <p:spPr>
          <a:xfrm>
            <a:off x="923543" y="4477616"/>
            <a:ext cx="3626017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bg1"/>
                </a:solidFill>
                <a:latin typeface="Poppins" pitchFamily="34" charset="0"/>
                <a:cs typeface="Poppins" pitchFamily="34" charset="-120"/>
              </a:rPr>
              <a:t>CHENNAI INSITUTE OF TECHNOLOGY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64" name="Text 55"/>
          <p:cNvSpPr txBox="1"/>
          <p:nvPr/>
        </p:nvSpPr>
        <p:spPr>
          <a:xfrm>
            <a:off x="903004" y="5454195"/>
            <a:ext cx="15343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bg1"/>
                </a:solidFill>
                <a:latin typeface="Poppins" pitchFamily="34" charset="0"/>
                <a:cs typeface="Poppins" pitchFamily="34" charset="-120"/>
              </a:rPr>
              <a:t>+91 9884293428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65" name="Text 56"/>
          <p:cNvSpPr txBox="1"/>
          <p:nvPr/>
        </p:nvSpPr>
        <p:spPr>
          <a:xfrm>
            <a:off x="6277383" y="5468112"/>
            <a:ext cx="38601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bg1"/>
                </a:solidFill>
                <a:latin typeface="Poppins" pitchFamily="34" charset="0"/>
                <a:cs typeface="Poppins" pitchFamily="34" charset="-120"/>
              </a:rPr>
              <a:t>Dharshanrajurd.ece2024@citchennai.net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70" name="Shape 1">
            <a:extLst>
              <a:ext uri="{FF2B5EF4-FFF2-40B4-BE49-F238E27FC236}">
                <a16:creationId xmlns:a16="http://schemas.microsoft.com/office/drawing/2014/main" id="{780937B3-EB04-4CBA-C636-AF115BC1E358}"/>
              </a:ext>
            </a:extLst>
          </p:cNvPr>
          <p:cNvSpPr/>
          <p:nvPr/>
        </p:nvSpPr>
        <p:spPr>
          <a:xfrm>
            <a:off x="562356" y="13807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67FE6B-8CE4-2744-DE3C-E456350E62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957" y="27370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554766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 Addressed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33856" y="258318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820251" y="2540203"/>
            <a:ext cx="1024128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AI-Based Restoration of Degraded Images for Semiconductor Inspection  |  KLA, Track 1</a:t>
            </a:r>
          </a:p>
        </p:txBody>
      </p:sp>
      <p:sp>
        <p:nvSpPr>
          <p:cNvPr id="17" name="Shape 11"/>
          <p:cNvSpPr/>
          <p:nvPr/>
        </p:nvSpPr>
        <p:spPr>
          <a:xfrm>
            <a:off x="1066646" y="3179164"/>
            <a:ext cx="10321279" cy="3202433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47699" y="3262579"/>
            <a:ext cx="3357960" cy="385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DESCRIPTION / DETAILS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1227930" y="3918331"/>
            <a:ext cx="10058400" cy="2061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Inspection images from a semiconductor line arrive degraded three ways at once: speckle noise (multiplicative, and it pushes pixel values outside the true intensity range), additive Gaussian noise (soft, hazy edges), and 2x spatial </a:t>
            </a:r>
            <a:r>
              <a:rPr lang="en-US" sz="1350" i="1" dirty="0" err="1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downsampling</a:t>
            </a:r>
            <a:r>
              <a:rPr lang="en-US" sz="1350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(fine detail genuinely lost, not merely hidden). Any combination and strength may be present in a single image.</a:t>
            </a:r>
          </a:p>
          <a:p>
            <a:pPr marL="0" indent="0" algn="l">
              <a:buNone/>
            </a:pPr>
            <a:endParaRPr lang="en-US" sz="1350" i="1" dirty="0">
              <a:solidFill>
                <a:srgbClr val="D8E0F5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r>
              <a:rPr lang="en-US" sz="1350" b="1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it matters</a:t>
            </a:r>
            <a:r>
              <a:rPr lang="en-US" sz="1350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these degradations hide the very features an inspection system exists to detect. Blur the noise away and real structure is destroyed; sharpen too hard and structure appears that was never there. Both failure modes translate directly into missed defects or false defect calls on a production line.</a:t>
            </a:r>
          </a:p>
          <a:p>
            <a:pPr marL="0" indent="0" algn="l">
              <a:buNone/>
            </a:pPr>
            <a:endParaRPr lang="en-US" sz="1350" i="1" dirty="0">
              <a:solidFill>
                <a:srgbClr val="D8E0F5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r>
              <a:rPr lang="en-US" sz="1350" b="1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task</a:t>
            </a:r>
            <a:r>
              <a:rPr lang="en-US" sz="1350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learn one transformation from paired (degraded, clean) examples that reverses all three degradations simultaneously, </a:t>
            </a:r>
            <a:r>
              <a:rPr lang="en-US" sz="1350" i="1" dirty="0" err="1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generalises</a:t>
            </a:r>
            <a:r>
              <a:rPr lang="en-US" sz="1350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to structure types never seen in training, and runs fast enough to keep up with inline inspection throughput.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9F13985-00B4-3FE2-69FB-BA5F884201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2164" y="228650"/>
            <a:ext cx="1607366" cy="783591"/>
          </a:xfrm>
          <a:prstGeom prst="rect">
            <a:avLst/>
          </a:prstGeom>
        </p:spPr>
      </p:pic>
      <p:sp>
        <p:nvSpPr>
          <p:cNvPr id="22" name="Shape 1">
            <a:extLst>
              <a:ext uri="{FF2B5EF4-FFF2-40B4-BE49-F238E27FC236}">
                <a16:creationId xmlns:a16="http://schemas.microsoft.com/office/drawing/2014/main" id="{8B3789FB-4EC6-29BB-8AB4-B514BCE88A9C}"/>
              </a:ext>
            </a:extLst>
          </p:cNvPr>
          <p:cNvSpPr/>
          <p:nvPr/>
        </p:nvSpPr>
        <p:spPr>
          <a:xfrm>
            <a:off x="571500" y="26629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A5626A-1768-0BB6-2B3B-C29607998D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449" y="416814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4" y="1295705"/>
            <a:ext cx="10682936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Idea Description </a:t>
            </a:r>
            <a:endParaRPr lang="en-US" sz="2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875538" y="212643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1076248" y="2354580"/>
            <a:ext cx="1719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616659" y="2116835"/>
            <a:ext cx="9813341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AEFF82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single compact CNN that restores all three degradations in one forward pass, and adapts its own processing to how badly each individual image is degraded.</a:t>
            </a:r>
          </a:p>
        </p:txBody>
      </p:sp>
      <p:sp>
        <p:nvSpPr>
          <p:cNvPr id="17" name="Shape 11"/>
          <p:cNvSpPr/>
          <p:nvPr/>
        </p:nvSpPr>
        <p:spPr>
          <a:xfrm>
            <a:off x="1076248" y="2888186"/>
            <a:ext cx="10353752" cy="2039058"/>
          </a:xfrm>
          <a:prstGeom prst="roundRect">
            <a:avLst>
              <a:gd name="adj" fmla="val 8693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43285" y="2970512"/>
            <a:ext cx="19961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CONCEPT &amp; APPROACH</a:t>
            </a:r>
            <a:endParaRPr lang="en-US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1226667" y="3607446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treat this as one joint problem rather than three sequential ones. A NAFNet-lite encoder-decoder (LayerNorm + depthwise conv + SimpleGate +</a:t>
            </a:r>
          </a:p>
          <a:p>
            <a:pPr marL="0" indent="0" algn="l">
              <a:buNone/>
            </a:pPr>
            <a:r>
              <a:rPr lang="en-US" sz="1100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simplified channel attention) does denoising, deblurring and 2x super-resolution together in a single pass, ending in a PixelShuffle upsample head.</a:t>
            </a:r>
          </a:p>
          <a:p>
            <a:pPr marL="0" indent="0" algn="l">
              <a:buNone/>
            </a:pPr>
            <a:r>
              <a:rPr lang="en-US" sz="1100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Staging them separately would let each stage's errors compound into the next; solving them jointly avoids that and is far faster at inference.</a:t>
            </a:r>
          </a:p>
          <a:p>
            <a:pPr marL="0" indent="0" algn="l">
              <a:buNone/>
            </a:pPr>
            <a:endParaRPr lang="en-US" sz="1100" i="1" dirty="0">
              <a:solidFill>
                <a:srgbClr val="D8E0F5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r>
              <a:rPr lang="en-US" sz="1100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 top of that, a small degradation estimator reads each input and emits a 32-d vector describing how degraded that specific image is. A FiLM layer</a:t>
            </a:r>
          </a:p>
          <a:p>
            <a:pPr marL="0" indent="0" algn="l">
              <a:buNone/>
            </a:pPr>
            <a:r>
              <a:rPr lang="en-US" sz="1100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turns that vector into a per-channel scale and shift applied at the bottleneck, so the network adapts per image instead of applying one fixed strategy.</a:t>
            </a:r>
          </a:p>
        </p:txBody>
      </p:sp>
      <p:sp>
        <p:nvSpPr>
          <p:cNvPr id="20" name="Shape 14"/>
          <p:cNvSpPr/>
          <p:nvPr/>
        </p:nvSpPr>
        <p:spPr>
          <a:xfrm>
            <a:off x="1076248" y="5040825"/>
            <a:ext cx="10353752" cy="1382413"/>
          </a:xfrm>
          <a:prstGeom prst="roundRect">
            <a:avLst>
              <a:gd name="adj" fmla="val 8693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 txBox="1"/>
          <p:nvPr/>
        </p:nvSpPr>
        <p:spPr>
          <a:xfrm>
            <a:off x="1162202" y="5126861"/>
            <a:ext cx="15480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OVERVIEW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1162202" y="5395524"/>
            <a:ext cx="9966960" cy="932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Speckle noise </a:t>
            </a:r>
            <a:r>
              <a:rPr lang="en-US" sz="1050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-&gt; Charbonnier loss is robust to the outlier pixels speckle creates, and inputs are never clipped on load, so out-of-range values are preserved.</a:t>
            </a:r>
          </a:p>
          <a:p>
            <a:pPr marL="0" indent="0" algn="l">
              <a:buNone/>
            </a:pPr>
            <a:r>
              <a:rPr lang="en-US" sz="1050" b="1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Gaussian blur </a:t>
            </a:r>
            <a:r>
              <a:rPr lang="en-US" sz="1050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-&gt; a Sobel edge loss explicitly penalises smeared edges, directly targeting the 'do not blur the image to remove noise' constraint.</a:t>
            </a:r>
          </a:p>
          <a:p>
            <a:pPr marL="0" indent="0" algn="l">
              <a:buNone/>
            </a:pPr>
            <a:r>
              <a:rPr lang="en-US" sz="1050" b="1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Downsampling</a:t>
            </a:r>
            <a:r>
              <a:rPr lang="en-US" sz="1050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-&gt; a learned PixelShuffle head reconstructs the 2x detail rather than interpolating it. No adversarial loss is used anywhere, by design:</a:t>
            </a:r>
          </a:p>
          <a:p>
            <a:pPr marL="0" indent="0" algn="l">
              <a:buNone/>
            </a:pPr>
            <a:r>
              <a:rPr lang="en-US" sz="1050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GAN-style training invents plausible texture, which is exactly the ringing and artificial patterning the problem statement warns against.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033FF08-6369-1C95-EB39-A51D568DF0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2164" y="228650"/>
            <a:ext cx="1607366" cy="783591"/>
          </a:xfrm>
          <a:prstGeom prst="rect">
            <a:avLst/>
          </a:prstGeom>
        </p:spPr>
      </p:pic>
      <p:sp>
        <p:nvSpPr>
          <p:cNvPr id="25" name="Shape 1">
            <a:extLst>
              <a:ext uri="{FF2B5EF4-FFF2-40B4-BE49-F238E27FC236}">
                <a16:creationId xmlns:a16="http://schemas.microsoft.com/office/drawing/2014/main" id="{82B7216B-04F1-E2CC-935F-9AA2CE5B9E43}"/>
              </a:ext>
            </a:extLst>
          </p:cNvPr>
          <p:cNvSpPr/>
          <p:nvPr/>
        </p:nvSpPr>
        <p:spPr>
          <a:xfrm>
            <a:off x="571500" y="209602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743FE56-9400-E309-F93C-96E3C8B4AF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375" y="32938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10296144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Proposed Solution 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0"/>
          <p:cNvSpPr txBox="1"/>
          <p:nvPr/>
        </p:nvSpPr>
        <p:spPr>
          <a:xfrm>
            <a:off x="960120" y="22128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Single-pass restoration pipeline. The dashed teal path is our degradation-aware conditioning; the dashed blue path is training-only supervision.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67D8EB9-0510-8E20-AE50-3B9EC87046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22" name="Shape 1">
            <a:extLst>
              <a:ext uri="{FF2B5EF4-FFF2-40B4-BE49-F238E27FC236}">
                <a16:creationId xmlns:a16="http://schemas.microsoft.com/office/drawing/2014/main" id="{50164B49-38DE-6195-0A8B-DC6EC6DA2457}"/>
              </a:ext>
            </a:extLst>
          </p:cNvPr>
          <p:cNvSpPr/>
          <p:nvPr/>
        </p:nvSpPr>
        <p:spPr>
          <a:xfrm>
            <a:off x="571500" y="142799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8A68BD0-3127-AC0B-80B4-CA2643B37A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553" y="276669"/>
            <a:ext cx="9163491" cy="586435"/>
          </a:xfrm>
          <a:prstGeom prst="rect">
            <a:avLst/>
          </a:prstGeom>
        </p:spPr>
      </p:pic>
      <p:pic>
        <p:nvPicPr>
          <p:cNvPr id="24" name="Pipeline Diagram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560" y="2697480"/>
            <a:ext cx="10076688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498622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Innovation and Uniqueness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95393" y="2037507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838505" y="2061369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1038301" y="2232819"/>
            <a:ext cx="1719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519275" y="2192731"/>
            <a:ext cx="98014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Most submissions will train one fixed restoration network. Ours estimates degradation severity per image and adapts to it - and we proved it works.</a:t>
            </a:r>
          </a:p>
        </p:txBody>
      </p:sp>
      <p:sp>
        <p:nvSpPr>
          <p:cNvPr id="17" name="Shape 11"/>
          <p:cNvSpPr/>
          <p:nvPr/>
        </p:nvSpPr>
        <p:spPr>
          <a:xfrm>
            <a:off x="991210" y="2735963"/>
            <a:ext cx="5020056" cy="2560320"/>
          </a:xfrm>
          <a:prstGeom prst="roundRect">
            <a:avLst>
              <a:gd name="adj" fmla="val 3412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124254" y="2917026"/>
            <a:ext cx="1271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INNOVATION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124254" y="3153279"/>
            <a:ext cx="4617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Degradation-aware FiLM conditioning. A small estimator</a:t>
            </a:r>
          </a:p>
          <a:p>
            <a:pPr marL="0" indent="0" algn="l">
              <a:buNone/>
            </a:pPr>
            <a:r>
              <a:rPr lang="en-US" sz="1050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network reads each degraded input and predicts how much</a:t>
            </a:r>
          </a:p>
          <a:p>
            <a:pPr marL="0" indent="0" algn="l">
              <a:buNone/>
            </a:pPr>
            <a:r>
              <a:rPr lang="en-US" sz="1050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damage it carries; a FiLM layer converts that into a per-channel</a:t>
            </a:r>
          </a:p>
          <a:p>
            <a:pPr marL="0" indent="0" algn="l">
              <a:buNone/>
            </a:pPr>
            <a:r>
              <a:rPr lang="en-US" sz="1050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scale and shift at the bottleneck. The network therefore</a:t>
            </a:r>
          </a:p>
          <a:p>
            <a:pPr marL="0" indent="0" algn="l">
              <a:buNone/>
            </a:pPr>
            <a:r>
              <a:rPr lang="en-US" sz="1050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processes a lightly-degraded image differently from a heavily-</a:t>
            </a:r>
          </a:p>
          <a:p>
            <a:pPr marL="0" indent="0" algn="l">
              <a:buNone/>
            </a:pPr>
            <a:r>
              <a:rPr lang="en-US" sz="1050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degraded one, instead of averaging one strategy over both.</a:t>
            </a:r>
          </a:p>
          <a:p>
            <a:pPr marL="0" indent="0" algn="l">
              <a:buNone/>
            </a:pPr>
            <a:endParaRPr lang="en-US" sz="1050" i="1" dirty="0">
              <a:solidFill>
                <a:srgbClr val="D8E0F5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r>
              <a:rPr lang="en-US" sz="1050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FiLM layer is zero-initialised, so training starts exactly</a:t>
            </a:r>
          </a:p>
          <a:p>
            <a:pPr marL="0" indent="0" algn="l">
              <a:buNone/>
            </a:pPr>
            <a:r>
              <a:rPr lang="en-US" sz="1050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equivalent to the plain baseline and can only deviate if doing so</a:t>
            </a:r>
          </a:p>
          <a:p>
            <a:pPr marL="0" indent="0" algn="l">
              <a:buNone/>
            </a:pPr>
            <a:r>
              <a:rPr lang="en-US" sz="1050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measurably lowers the loss. Our first attempt used default random</a:t>
            </a:r>
          </a:p>
          <a:p>
            <a:pPr marL="0" indent="0" algn="l">
              <a:buNone/>
            </a:pPr>
            <a:r>
              <a:rPr lang="en-US" sz="1050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init and lost to the baseline on every metric; diagnosing that and</a:t>
            </a:r>
          </a:p>
          <a:p>
            <a:pPr marL="0" indent="0" algn="l">
              <a:buNone/>
            </a:pPr>
            <a:r>
              <a:rPr lang="en-US" sz="1050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fixing the initialisation is what turned the idea into a real gain.</a:t>
            </a:r>
          </a:p>
        </p:txBody>
      </p:sp>
      <p:sp>
        <p:nvSpPr>
          <p:cNvPr id="20" name="Shape 14"/>
          <p:cNvSpPr/>
          <p:nvPr/>
        </p:nvSpPr>
        <p:spPr>
          <a:xfrm>
            <a:off x="6210605" y="3886200"/>
            <a:ext cx="5020056" cy="2560320"/>
          </a:xfrm>
          <a:prstGeom prst="roundRect">
            <a:avLst>
              <a:gd name="adj" fmla="val 3412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 txBox="1"/>
          <p:nvPr/>
        </p:nvSpPr>
        <p:spPr>
          <a:xfrm>
            <a:off x="6448349" y="4069080"/>
            <a:ext cx="1901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COMPETITIVE ADVANTAGE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6446520" y="4315968"/>
            <a:ext cx="4709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Validated, not assumed. We trained five models and ran a</a:t>
            </a:r>
          </a:p>
          <a:p>
            <a:pPr marL="0" indent="0" algn="l">
              <a:buNone/>
            </a:pPr>
            <a:r>
              <a:rPr lang="en-US" sz="1050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controlled ablation: U-Net baseline, U-Net + FiLM, NAFNet-lite</a:t>
            </a:r>
          </a:p>
          <a:p>
            <a:pPr marL="0" indent="0" algn="l">
              <a:buNone/>
            </a:pPr>
            <a:r>
              <a:rPr lang="en-US" sz="1050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baseline, NAFNet-lite + FiLM, and the final wide NAFNet + FiLM</a:t>
            </a:r>
          </a:p>
          <a:p>
            <a:pPr marL="0" indent="0" algn="l">
              <a:buNone/>
            </a:pPr>
            <a:r>
              <a:rPr lang="en-US" sz="1050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 VGG perceptual loss. FiLM improved results on both backbones</a:t>
            </a:r>
          </a:p>
          <a:p>
            <a:pPr marL="0" indent="0" algn="l">
              <a:buNone/>
            </a:pPr>
            <a:r>
              <a:rPr lang="en-US" sz="1050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independently, which is far stronger evidence than a single run.</a:t>
            </a:r>
          </a:p>
          <a:p>
            <a:pPr marL="0" indent="0" algn="l">
              <a:buNone/>
            </a:pPr>
            <a:endParaRPr lang="en-US" sz="1050" i="1" dirty="0">
              <a:solidFill>
                <a:srgbClr val="D8E0F5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r>
              <a:rPr lang="en-US" sz="1050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Perceptual loss where it counts. Adding a VGG16 feature loss</a:t>
            </a:r>
          </a:p>
          <a:p>
            <a:pPr marL="0" indent="0" algn="l">
              <a:buNone/>
            </a:pPr>
            <a:r>
              <a:rPr lang="en-US" sz="1050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targets LPIPS directly and produced our largest single gain</a:t>
            </a:r>
          </a:p>
          <a:p>
            <a:pPr marL="0" indent="0" algn="l">
              <a:buNone/>
            </a:pPr>
            <a:r>
              <a:rPr lang="en-US" sz="1050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(0.2326 -&gt; 0.1938). Speed was never traded away: 6.50 ms per</a:t>
            </a:r>
          </a:p>
          <a:p>
            <a:pPr marL="0" indent="0" algn="l">
              <a:buNone/>
            </a:pPr>
            <a:r>
              <a:rPr lang="en-US" sz="1050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image end-to-end including disk I/O, on a T4 - and the H100 the</a:t>
            </a:r>
          </a:p>
          <a:p>
            <a:pPr marL="0" indent="0" algn="l">
              <a:buNone/>
            </a:pPr>
            <a:r>
              <a:rPr lang="en-US" sz="1050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organisers benchmark on is materially faster still.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8B85B4A-4413-5424-84AE-2AF429F27F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8322" y="228650"/>
            <a:ext cx="1607366" cy="783591"/>
          </a:xfrm>
          <a:prstGeom prst="rect">
            <a:avLst/>
          </a:prstGeom>
        </p:spPr>
      </p:pic>
      <p:sp>
        <p:nvSpPr>
          <p:cNvPr id="25" name="Shape 1">
            <a:extLst>
              <a:ext uri="{FF2B5EF4-FFF2-40B4-BE49-F238E27FC236}">
                <a16:creationId xmlns:a16="http://schemas.microsoft.com/office/drawing/2014/main" id="{BB3A3471-21A6-8A80-8399-32E98C63F186}"/>
              </a:ext>
            </a:extLst>
          </p:cNvPr>
          <p:cNvSpPr/>
          <p:nvPr/>
        </p:nvSpPr>
        <p:spPr>
          <a:xfrm>
            <a:off x="571500" y="258065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ADA517E-8996-A444-E540-A2F9B8F98D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29" y="393700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372892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Results</a:t>
            </a:r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2A87E08-9934-FBF2-2F29-11A8271B36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6922" y="227710"/>
            <a:ext cx="1607366" cy="783591"/>
          </a:xfrm>
          <a:prstGeom prst="rect">
            <a:avLst/>
          </a:prstGeom>
        </p:spPr>
      </p:pic>
      <p:sp>
        <p:nvSpPr>
          <p:cNvPr id="27" name="Shape 1">
            <a:extLst>
              <a:ext uri="{FF2B5EF4-FFF2-40B4-BE49-F238E27FC236}">
                <a16:creationId xmlns:a16="http://schemas.microsoft.com/office/drawing/2014/main" id="{850BA2BE-D607-619F-6960-A71277019D3B}"/>
              </a:ext>
            </a:extLst>
          </p:cNvPr>
          <p:cNvSpPr/>
          <p:nvPr/>
        </p:nvSpPr>
        <p:spPr>
          <a:xfrm>
            <a:off x="571500" y="209602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5D3E59C-FE74-F0BE-9B10-98C8003398B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859" y="329389"/>
            <a:ext cx="9163491" cy="586435"/>
          </a:xfrm>
          <a:prstGeom prst="rect">
            <a:avLst/>
          </a:prstGeom>
        </p:spPr>
      </p:pic>
      <p:pic>
        <p:nvPicPr>
          <p:cNvPr id="29" name="Result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762963"/>
            <a:ext cx="12191695" cy="51117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238098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00607"/>
            <a:ext cx="782452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Technology &amp; Feasibility/Methodology Used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1879092"/>
            <a:ext cx="11048695" cy="4695444"/>
          </a:xfrm>
          <a:prstGeom prst="roundRect">
            <a:avLst>
              <a:gd name="adj" fmla="val 63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1879092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1879092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269541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33856" y="2440534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62049" y="2287829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EFF82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PyTorch throughout. Trained on a single free-tier Colab T4; the whole five-model programme fits in a few GPU-hours, so every result here is reproducible on hardware any student can access.</a:t>
            </a:r>
          </a:p>
        </p:txBody>
      </p:sp>
      <p:sp>
        <p:nvSpPr>
          <p:cNvPr id="17" name="Shape 11"/>
          <p:cNvSpPr/>
          <p:nvPr/>
        </p:nvSpPr>
        <p:spPr>
          <a:xfrm>
            <a:off x="1719263" y="2932481"/>
            <a:ext cx="9510484" cy="1931213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910220" y="2993746"/>
            <a:ext cx="20336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IMPLEMENTATION STRATEGY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873948" y="3440887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Training: PyTorch, Adam (lr 1e-3), cosine annealing, batch 16, 80 epochs, flip augmentation, seed 42 for a reproducible split.</a:t>
            </a:r>
          </a:p>
          <a:p>
            <a:pPr marL="0" indent="0" algn="l">
              <a:buNone/>
            </a:pPr>
            <a:endParaRPr lang="en-US" sz="1000" i="1" dirty="0">
              <a:solidFill>
                <a:srgbClr val="D8E0F5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r>
              <a:rPr lang="en-US" sz="1000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Losses: Charbonnier + 0.1 x Sobel edge + 0.05 x VGG16 perceptual. Model: 2.73 M params, kept small because throughput is scored.</a:t>
            </a:r>
          </a:p>
          <a:p>
            <a:pPr marL="0" indent="0" algn="l">
              <a:buNone/>
            </a:pPr>
            <a:endParaRPr lang="en-US" sz="1000" i="1" dirty="0">
              <a:solidFill>
                <a:srgbClr val="D8E0F5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r>
              <a:rPr lang="en-US" sz="1000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Inference: inference.py takes --input_dir / --output_dir, batches same-shape images, auto-detects GPU, clips output to [0,1].</a:t>
            </a:r>
          </a:p>
          <a:p>
            <a:pPr marL="0" indent="0" algn="l">
              <a:buNone/>
            </a:pPr>
            <a:endParaRPr lang="en-US" sz="1000" i="1" dirty="0">
              <a:solidFill>
                <a:srgbClr val="D8E0F5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 algn="l">
              <a:buNone/>
            </a:pPr>
            <a:r>
              <a:rPr lang="en-US" sz="1000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Metrics: PSNR/SSIM via scikit-image, LPIPS via the standard lpips package - reference implementations, not hand-rolled.</a:t>
            </a:r>
          </a:p>
        </p:txBody>
      </p:sp>
      <p:sp>
        <p:nvSpPr>
          <p:cNvPr id="20" name="Shape 14"/>
          <p:cNvSpPr/>
          <p:nvPr/>
        </p:nvSpPr>
        <p:spPr>
          <a:xfrm>
            <a:off x="961949" y="5252314"/>
            <a:ext cx="3295498" cy="933602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t="-45" b="-45"/>
          <a:stretch/>
        </p:blipFill>
        <p:spPr>
          <a:xfrm>
            <a:off x="2481682" y="5451653"/>
            <a:ext cx="256946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81328" y="5824728"/>
            <a:ext cx="2286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PyTorch . NumPy . scikit-image</a:t>
            </a:r>
          </a:p>
        </p:txBody>
      </p:sp>
      <p:sp>
        <p:nvSpPr>
          <p:cNvPr id="23" name="Shape 16"/>
          <p:cNvSpPr/>
          <p:nvPr/>
        </p:nvSpPr>
        <p:spPr>
          <a:xfrm>
            <a:off x="4448556" y="5252314"/>
            <a:ext cx="3295498" cy="933602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982005" y="5451653"/>
            <a:ext cx="228600" cy="2286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074920" y="5824728"/>
            <a:ext cx="2286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Colab T4 train . H100 eval</a:t>
            </a:r>
          </a:p>
        </p:txBody>
      </p:sp>
      <p:sp>
        <p:nvSpPr>
          <p:cNvPr id="26" name="Shape 18"/>
          <p:cNvSpPr/>
          <p:nvPr/>
        </p:nvSpPr>
        <p:spPr>
          <a:xfrm>
            <a:off x="7934249" y="5252314"/>
            <a:ext cx="3295498" cy="933602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467698" y="5451653"/>
            <a:ext cx="228600" cy="22860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732520" y="5824728"/>
            <a:ext cx="2286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 . VS Code . Colab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A9CA506-8684-B4DC-6650-2E5F61A7B03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44743" y="228600"/>
            <a:ext cx="1607366" cy="783591"/>
          </a:xfrm>
          <a:prstGeom prst="rect">
            <a:avLst/>
          </a:prstGeom>
        </p:spPr>
      </p:pic>
      <p:sp>
        <p:nvSpPr>
          <p:cNvPr id="31" name="Shape 1">
            <a:extLst>
              <a:ext uri="{FF2B5EF4-FFF2-40B4-BE49-F238E27FC236}">
                <a16:creationId xmlns:a16="http://schemas.microsoft.com/office/drawing/2014/main" id="{10B6379C-1BCE-6784-4600-934501FC5F97}"/>
              </a:ext>
            </a:extLst>
          </p:cNvPr>
          <p:cNvSpPr/>
          <p:nvPr/>
        </p:nvSpPr>
        <p:spPr>
          <a:xfrm>
            <a:off x="571500" y="240793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D18A824-BCDE-0A33-4245-E3C168F9E6D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378206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360456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&amp; Video Link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1190549" y="2696566"/>
            <a:ext cx="9810598" cy="1447495"/>
          </a:xfrm>
          <a:prstGeom prst="roundRect">
            <a:avLst>
              <a:gd name="adj" fmla="val 4987"/>
            </a:avLst>
          </a:prstGeom>
          <a:noFill/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1429207" y="3087014"/>
            <a:ext cx="666598" cy="666598"/>
          </a:xfrm>
          <a:prstGeom prst="ellipse">
            <a:avLst/>
          </a:prstGeom>
          <a:solidFill>
            <a:srgbClr val="273383">
              <a:alpha val="60000"/>
            </a:srgbClr>
          </a:solidFill>
          <a:ln w="25400">
            <a:solidFill>
              <a:srgbClr val="AEFF82"/>
            </a:solidFill>
            <a:prstDash val="solid"/>
          </a:ln>
          <a:effectLst>
            <a:outerShdw blurRad="139700" dist="12700" dir="16200000" algn="bl" rotWithShape="0">
              <a:srgbClr val="88E555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l="-237" r="-237"/>
          <a:stretch/>
        </p:blipFill>
        <p:spPr>
          <a:xfrm>
            <a:off x="1595628" y="3248863"/>
            <a:ext cx="333756" cy="3429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400300" y="2934310"/>
            <a:ext cx="2000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Repository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2400300" y="3315614"/>
            <a:ext cx="8363102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2562149" y="3535070"/>
            <a:ext cx="190195" cy="15270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2848356" y="3396997"/>
            <a:ext cx="5671496" cy="418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https://github.com/dharshanrajurd/NoiseTrue-Adaptive</a:t>
            </a:r>
          </a:p>
        </p:txBody>
      </p:sp>
      <p:sp>
        <p:nvSpPr>
          <p:cNvPr id="21" name="Shape 14"/>
          <p:cNvSpPr/>
          <p:nvPr/>
        </p:nvSpPr>
        <p:spPr>
          <a:xfrm>
            <a:off x="1190549" y="4449470"/>
            <a:ext cx="9810598" cy="1447495"/>
          </a:xfrm>
          <a:prstGeom prst="roundRect">
            <a:avLst>
              <a:gd name="adj" fmla="val 4987"/>
            </a:avLst>
          </a:prstGeom>
          <a:noFill/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5"/>
          <p:cNvSpPr/>
          <p:nvPr/>
        </p:nvSpPr>
        <p:spPr>
          <a:xfrm>
            <a:off x="1429207" y="4839919"/>
            <a:ext cx="666598" cy="666598"/>
          </a:xfrm>
          <a:prstGeom prst="ellipse">
            <a:avLst/>
          </a:prstGeom>
          <a:solidFill>
            <a:srgbClr val="273383">
              <a:alpha val="60000"/>
            </a:srgbClr>
          </a:solidFill>
          <a:ln w="25400">
            <a:solidFill>
              <a:srgbClr val="AEFF82"/>
            </a:solidFill>
            <a:prstDash val="solid"/>
          </a:ln>
          <a:effectLst>
            <a:outerShdw blurRad="139700" dist="12700" dir="16200000" algn="bl" rotWithShape="0">
              <a:srgbClr val="88E555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 l="-607" r="-607"/>
          <a:stretch/>
        </p:blipFill>
        <p:spPr>
          <a:xfrm>
            <a:off x="1567282" y="5001768"/>
            <a:ext cx="390449" cy="3429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2400300" y="4687214"/>
            <a:ext cx="30861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Prototype / Simulation Video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2400300" y="5068519"/>
            <a:ext cx="8363102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rcRect l="-33" r="-33"/>
          <a:stretch/>
        </p:blipFill>
        <p:spPr>
          <a:xfrm>
            <a:off x="2562149" y="5287061"/>
            <a:ext cx="171907" cy="152705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2848356" y="5239512"/>
            <a:ext cx="605332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https://youtu.be/GsRu_q6-TAo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AC5205F-3589-4B54-7039-C1C70523478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30" name="Shape 1">
            <a:extLst>
              <a:ext uri="{FF2B5EF4-FFF2-40B4-BE49-F238E27FC236}">
                <a16:creationId xmlns:a16="http://schemas.microsoft.com/office/drawing/2014/main" id="{89A93441-4E5C-0FCA-6BDD-16AB2E1B711C}"/>
              </a:ext>
            </a:extLst>
          </p:cNvPr>
          <p:cNvSpPr/>
          <p:nvPr/>
        </p:nvSpPr>
        <p:spPr>
          <a:xfrm>
            <a:off x="571500" y="16794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3E0C32B-9271-FA34-86BB-7D95EB5AB34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297181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190549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152144"/>
            <a:ext cx="462412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and References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1830629"/>
            <a:ext cx="11048695" cy="4743907"/>
          </a:xfrm>
          <a:prstGeom prst="roundRect">
            <a:avLst>
              <a:gd name="adj" fmla="val 61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1830629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1830629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173529"/>
            <a:ext cx="476402" cy="476402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86307" y="2297887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628546" y="2173529"/>
            <a:ext cx="3810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Background &amp; Methodology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628546" y="2516429"/>
            <a:ext cx="96012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architectural and loss choice below is taken from published restoration literature rather than invented for this submission.</a:t>
            </a:r>
          </a:p>
        </p:txBody>
      </p:sp>
      <p:sp>
        <p:nvSpPr>
          <p:cNvPr id="18" name="Shape 12"/>
          <p:cNvSpPr/>
          <p:nvPr/>
        </p:nvSpPr>
        <p:spPr>
          <a:xfrm>
            <a:off x="1628546" y="2783434"/>
            <a:ext cx="9601200" cy="1067105"/>
          </a:xfrm>
          <a:prstGeom prst="roundRect">
            <a:avLst>
              <a:gd name="adj" fmla="val 6121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3"/>
          <p:cNvSpPr txBox="1"/>
          <p:nvPr/>
        </p:nvSpPr>
        <p:spPr>
          <a:xfrm>
            <a:off x="1792224" y="2907792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NAFNet supplies the backbone block: SimpleGate replaces nonlinear activations, and simplified channel attention replaces heavier attention, giving a</a:t>
            </a:r>
          </a:p>
          <a:p>
            <a:pPr marL="0" indent="0" algn="l">
              <a:buNone/>
            </a:pPr>
            <a:r>
              <a:rPr lang="en-US" sz="950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better quality-per-FLOP trade-off than a plain U-Net. FiLM supplies the conditioning mechanism - a feature-wise affine modulation driven by a side network.</a:t>
            </a:r>
          </a:p>
          <a:p>
            <a:pPr marL="0" indent="0" algn="l">
              <a:buNone/>
            </a:pPr>
            <a:r>
              <a:rPr lang="en-US" sz="950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Charbonnier is a differentiable robust L1 variant, appropriate here because speckle produces genuine outlier pixels. The VGG perceptual loss follows the</a:t>
            </a:r>
          </a:p>
          <a:p>
            <a:pPr marL="0" indent="0" algn="l">
              <a:buNone/>
            </a:pPr>
            <a:r>
              <a:rPr lang="en-US" sz="950" i="1" dirty="0">
                <a:solidFill>
                  <a:srgbClr val="D8E0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standard feature-space formulation, and LPIPS (our evaluation metric) is built on the same principle, which is why optimising the former moves the latter.</a:t>
            </a:r>
          </a:p>
        </p:txBody>
      </p:sp>
      <p:sp>
        <p:nvSpPr>
          <p:cNvPr id="20" name="Shape 14"/>
          <p:cNvSpPr/>
          <p:nvPr/>
        </p:nvSpPr>
        <p:spPr>
          <a:xfrm>
            <a:off x="961949" y="4155034"/>
            <a:ext cx="476402" cy="476402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1057046" y="4279392"/>
            <a:ext cx="286207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628546" y="4155034"/>
            <a:ext cx="23436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References &amp; Citations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1628546" y="4497934"/>
            <a:ext cx="73152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Papers, libraries and pretrained weights used. All licences permit competition use.</a:t>
            </a:r>
          </a:p>
        </p:txBody>
      </p:sp>
      <p:sp>
        <p:nvSpPr>
          <p:cNvPr id="24" name="Shape 17"/>
          <p:cNvSpPr/>
          <p:nvPr/>
        </p:nvSpPr>
        <p:spPr>
          <a:xfrm>
            <a:off x="1628546" y="4709160"/>
            <a:ext cx="9490558" cy="1576425"/>
          </a:xfrm>
          <a:prstGeom prst="roundRect">
            <a:avLst>
              <a:gd name="adj" fmla="val 3505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19"/>
          <p:cNvSpPr txBox="1"/>
          <p:nvPr/>
        </p:nvSpPr>
        <p:spPr>
          <a:xfrm>
            <a:off x="1792224" y="48280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Chen, L. et al. (2022). Simple Baselines for Image Restoration (NAFNet). ECCV 2022. arxiv.org/abs/2204.04676</a:t>
            </a:r>
          </a:p>
        </p:txBody>
      </p:sp>
      <p:sp>
        <p:nvSpPr>
          <p:cNvPr id="28" name="Text 21"/>
          <p:cNvSpPr txBox="1"/>
          <p:nvPr/>
        </p:nvSpPr>
        <p:spPr>
          <a:xfrm>
            <a:off x="1792224" y="514807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Perez, E. et al. (2018). FiLM: Visual Reasoning with a General Conditioning Layer. AAAI 2018. arxiv.org/abs/1709.07871</a:t>
            </a:r>
          </a:p>
        </p:txBody>
      </p:sp>
      <p:sp>
        <p:nvSpPr>
          <p:cNvPr id="29" name="Text 22"/>
          <p:cNvSpPr txBox="1"/>
          <p:nvPr/>
        </p:nvSpPr>
        <p:spPr>
          <a:xfrm>
            <a:off x="1792224" y="546811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Zhang, R. et al. (2018). The Unreasonable Effectiveness of Deep Features as a Perceptual Metric (LPIPS). CVPR 2018. arxiv.org/abs/1801.03924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35E3709-F1C8-6E84-EA51-720EFCF71B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32" name="Shape 1">
            <a:extLst>
              <a:ext uri="{FF2B5EF4-FFF2-40B4-BE49-F238E27FC236}">
                <a16:creationId xmlns:a16="http://schemas.microsoft.com/office/drawing/2014/main" id="{3E27E131-AC1D-E75C-0267-02565ACC1BC3}"/>
              </a:ext>
            </a:extLst>
          </p:cNvPr>
          <p:cNvSpPr/>
          <p:nvPr/>
        </p:nvSpPr>
        <p:spPr>
          <a:xfrm>
            <a:off x="571500" y="25971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D876DBE-D402-1B41-B952-69F6F5BF98C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390016"/>
            <a:ext cx="9163491" cy="586435"/>
          </a:xfrm>
          <a:prstGeom prst="rect">
            <a:avLst/>
          </a:prstGeom>
        </p:spPr>
      </p:pic>
      <p:sp>
        <p:nvSpPr>
          <p:cNvPr id="900" name="Text Extra Refs"/>
          <p:cNvSpPr txBox="1"/>
          <p:nvPr/>
        </p:nvSpPr>
        <p:spPr>
          <a:xfrm>
            <a:off x="1792224" y="5788152"/>
            <a:ext cx="932688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D8E0F5"/>
                </a:solidFill>
                <a:latin typeface="Poppins" pitchFamily="34" charset="0"/>
              </a:rPr>
              <a:t>Simonyan, K. &amp; Zisserman, A. (2015). Very Deep Convolutional Networks for Large-Scale Image Recognition (VGG16). ICLR 2015. arxiv.org/abs/1409.1556</a:t>
            </a:r>
          </a:p>
          <a:p>
            <a:pPr marL="0" indent="0" algn="l">
              <a:buNone/>
            </a:pPr>
            <a:r>
              <a:rPr lang="en-US" sz="950" dirty="0">
                <a:solidFill>
                  <a:srgbClr val="D8E0F5"/>
                </a:solidFill>
                <a:latin typeface="Poppins" pitchFamily="34" charset="0"/>
              </a:rPr>
              <a:t>Dataset: KLA paired GT / NoisyLR training set, SEMICON India Hackathon 2026. Pretrained VGG16 weights via torchvision (BSD-3); lpips package (BSD-2).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1278</Words>
  <Application>Microsoft Office PowerPoint</Application>
  <PresentationFormat>Widescreen</PresentationFormat>
  <Paragraphs>115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Dharshan Raju</cp:lastModifiedBy>
  <cp:revision>5</cp:revision>
  <dcterms:created xsi:type="dcterms:W3CDTF">2026-01-15T05:38:47Z</dcterms:created>
  <dcterms:modified xsi:type="dcterms:W3CDTF">2026-08-15T19:31:59Z</dcterms:modified>
</cp:coreProperties>
</file>